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850333991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850333991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50333991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50333991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50333991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50333991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50333991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50333991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0333991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50333991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50333991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50333991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0333991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0333991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50333991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50333991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503339912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50333991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03339912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03339912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50333991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850333991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ts val="3600"/>
              <a:buFont typeface="Trebuchet MS"/>
              <a:buNone/>
            </a:pPr>
            <a:r>
              <a:rPr lang="en-GB" sz="36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Introduction to NoSQL Databases</a:t>
            </a:r>
            <a:br>
              <a:rPr lang="en-GB" sz="3600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GB" sz="180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 Journey Beyond Relational Databases</a:t>
            </a:r>
            <a:endParaRPr sz="3600">
              <a:solidFill>
                <a:srgbClr val="90C226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NoSQL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655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15"/>
              <a:buChar char="★"/>
            </a:pPr>
            <a:r>
              <a:rPr lang="en-GB" sz="2015"/>
              <a:t>NoSQL = "Not Only SQL"</a:t>
            </a:r>
            <a:endParaRPr sz="2015"/>
          </a:p>
          <a:p>
            <a:pPr indent="-34131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75"/>
              <a:buChar char="○"/>
            </a:pPr>
            <a:r>
              <a:rPr lang="en-GB" sz="1775"/>
              <a:t>A new approach to database design</a:t>
            </a:r>
            <a:endParaRPr sz="1775"/>
          </a:p>
          <a:p>
            <a:pPr indent="-34131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75"/>
              <a:buChar char="○"/>
            </a:pPr>
            <a:r>
              <a:rPr lang="en-GB" sz="1775"/>
              <a:t>Built for unstructured, semi-structured, and structured data</a:t>
            </a:r>
            <a:endParaRPr sz="1775"/>
          </a:p>
          <a:p>
            <a:pPr indent="-34131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75"/>
              <a:buChar char="○"/>
            </a:pPr>
            <a:r>
              <a:rPr lang="en-GB" sz="1775"/>
              <a:t>Focuses on scalability, flexibility, and performance</a:t>
            </a:r>
            <a:endParaRPr sz="17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NoSQL Databases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1. Key-Value Stores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Document Stores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3. Column-Oriented Databases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4. Graph Databases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Let's explore each one with examples!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Key-Value Stores – Overview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Stores data as key-value pairs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Very fast for simple lookups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Ideal for session management, cache, preferences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Structure: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869425" y="2946275"/>
            <a:ext cx="6322800" cy="1238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"user123"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"John Doe"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"user124"</a:t>
            </a: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"Jane Smith"</a:t>
            </a:r>
            <a:endParaRPr sz="13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1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Key-Value Store – Example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Redis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Use Case: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Caching recent search results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Shopping cart data in e-commerce apps</a:t>
            </a:r>
            <a:endParaRPr sz="1600"/>
          </a:p>
        </p:txBody>
      </p:sp>
      <p:sp>
        <p:nvSpPr>
          <p:cNvPr id="86" name="Google Shape;86;p17"/>
          <p:cNvSpPr txBox="1"/>
          <p:nvPr/>
        </p:nvSpPr>
        <p:spPr>
          <a:xfrm>
            <a:off x="880375" y="2032475"/>
            <a:ext cx="3172500" cy="899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user:</a:t>
            </a:r>
            <a:r>
              <a:rPr lang="en-GB" sz="12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1001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endParaRPr sz="12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user:</a:t>
            </a:r>
            <a:r>
              <a:rPr lang="en-GB" sz="12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1002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"Bob"</a:t>
            </a:r>
            <a:endParaRPr sz="12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user:</a:t>
            </a:r>
            <a:r>
              <a:rPr lang="en-GB" sz="12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1001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→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endParaRPr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 Store – Overview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Stores data as documents (JSON, BSON, XML)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Supports complex nested data structures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Schema-less – flexible and adaptable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Structure: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847450" y="2616975"/>
            <a:ext cx="6322800" cy="168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"_id"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"123"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"email"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"alice@example.com"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"orders"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2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123, 456</a:t>
            </a:r>
            <a:r>
              <a:rPr lang="en-GB" sz="12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50">
              <a:solidFill>
                <a:srgbClr val="9800A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Document Store – Example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71600"/>
            <a:ext cx="8520600" cy="38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Example: MongoDB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Use Case: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Content management systems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Real-time analytics (e.g., e-commerce product reviews)</a:t>
            </a:r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902300" y="1661950"/>
            <a:ext cx="6322800" cy="2283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E599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rgbClr val="FFE599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"_id"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"u100"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"Ravi"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"hobbies"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"reading", "cycling"</a:t>
            </a:r>
            <a:r>
              <a:rPr lang="en-GB" sz="11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"address"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rgbClr val="9800A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"city"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"Delhi"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"pincode"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GB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"110001"</a:t>
            </a:r>
            <a:endParaRPr sz="11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9800A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50">
              <a:solidFill>
                <a:srgbClr val="9800A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FFE599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9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Column-Oriented Store – Overview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Data stored column-wise instead of row-wise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Optimized for read-heavy workloads and analytics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Great for time series, IoT, data warehousing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Structure (Column Store):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Column: Name → ["Alice", "Bob", "Charlie"]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Column: Age → [25, 30, 35]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Column-Oriented Store – Example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Apache Cassandra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Use Case: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Sensor data logging (IoT)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Event tracking (user clicks, game stats)</a:t>
            </a:r>
            <a:endParaRPr sz="1600"/>
          </a:p>
        </p:txBody>
      </p:sp>
      <p:sp>
        <p:nvSpPr>
          <p:cNvPr id="113" name="Google Shape;113;p21"/>
          <p:cNvSpPr txBox="1"/>
          <p:nvPr/>
        </p:nvSpPr>
        <p:spPr>
          <a:xfrm>
            <a:off x="880375" y="1705875"/>
            <a:ext cx="6322800" cy="132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TABLE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students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id UUID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marks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9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0C226"/>
              </a:buClr>
              <a:buSzPct val="120000"/>
              <a:buFont typeface="Trebuchet MS"/>
              <a:buNone/>
            </a:pPr>
            <a:r>
              <a:rPr lang="en-GB"/>
              <a:t>Graph Database – Overview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Data stored as nodes and relationships (edges)</a:t>
            </a:r>
            <a:endParaRPr sz="1900"/>
          </a:p>
          <a:p>
            <a:pPr indent="-3492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Excellent for highly connected data</a:t>
            </a:r>
            <a:endParaRPr sz="1900"/>
          </a:p>
          <a:p>
            <a:pPr indent="-3492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Focus on relationships between entities</a:t>
            </a:r>
            <a:endParaRPr sz="1900"/>
          </a:p>
          <a:p>
            <a:pPr indent="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59"/>
          </a:p>
          <a:p>
            <a:pPr indent="-349250" lvl="0" marL="457200" rtl="0" algn="l">
              <a:lnSpc>
                <a:spcPct val="190000"/>
              </a:lnSpc>
              <a:spcBef>
                <a:spcPts val="120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Structure:</a:t>
            </a:r>
            <a:endParaRPr sz="1900"/>
          </a:p>
          <a:p>
            <a:pPr indent="-349250" lvl="0" marL="4572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(Alice) —[FOLLOWS]→ (Bob)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Database – Example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Example: Neo4j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CREATE (a:Person {name: 'Alice'})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CREATE (b:Person {name: 'Bob'})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CREATE (a)-[:FRIENDS_WITH]-&gt;(b)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★"/>
            </a:pPr>
            <a:r>
              <a:rPr lang="en-GB" sz="2000"/>
              <a:t>Use Case: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Social networks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Fraud detection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GB" sz="1600"/>
              <a:t>Recommendation engines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