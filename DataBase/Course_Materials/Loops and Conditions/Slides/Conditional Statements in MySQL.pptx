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Nunito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bold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Nunit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Nunito-italic.fntdata"/><Relationship Id="rId6" Type="http://schemas.openxmlformats.org/officeDocument/2006/relationships/slide" Target="slides/slide1.xml"/><Relationship Id="rId18" Type="http://schemas.openxmlformats.org/officeDocument/2006/relationships/font" Target="fonts/Nunit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7fab473185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7fab473185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7fab473185_0_1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7fab473185_0_1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7fab473185_0_1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7fab473185_0_1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7fab473185_0_1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1" name="Google Shape;151;g37fab473185_0_1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37fab473185_0_1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8" name="Google Shape;158;g37fab473185_0_1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37fab473185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" name="Google Shape;164;g37fab473185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7fab473185_0_1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7fab473185_0_1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7fab473185_0_1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7fab473185_0_1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7fab473185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7fab473185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7fab473185_0_1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7fab473185_0_1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Conditional Statements in MySQL</a:t>
            </a:r>
            <a:endParaRPr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Instructor: Sriya Ivaturi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Conditional Statements in MySQL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Conditional statements control the flow of execution based on conditions.</a:t>
            </a:r>
            <a:endParaRPr sz="1700"/>
          </a:p>
          <a:p>
            <a:pPr indent="-3365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❖"/>
            </a:pPr>
            <a:r>
              <a:rPr lang="en-GB" sz="1700"/>
              <a:t>Three main types in MySQL: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GB" sz="1700"/>
              <a:t>IF statement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GB" sz="1700"/>
              <a:t>IF…ELSEIF…ELSE statement</a:t>
            </a:r>
            <a:endParaRPr sz="1700"/>
          </a:p>
          <a:p>
            <a:pPr indent="-3365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700"/>
              <a:buChar char="➢"/>
            </a:pPr>
            <a:r>
              <a:rPr lang="en-GB" sz="1700"/>
              <a:t>CASE statement</a:t>
            </a:r>
            <a:endParaRPr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- IF Statement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819150" y="1990725"/>
            <a:ext cx="7505700" cy="14352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2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condition </a:t>
            </a:r>
            <a:r>
              <a:rPr lang="en-GB" sz="2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2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20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statements</a:t>
            </a:r>
            <a:endParaRPr sz="20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2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2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2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  <p:sp>
        <p:nvSpPr>
          <p:cNvPr id="142" name="Google Shape;142;p15"/>
          <p:cNvSpPr txBox="1"/>
          <p:nvPr/>
        </p:nvSpPr>
        <p:spPr>
          <a:xfrm>
            <a:off x="819150" y="3593925"/>
            <a:ext cx="7505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Case: Use when you want to execute code only if a condition is true.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 - IF Statement</a:t>
            </a:r>
            <a:endParaRPr/>
          </a:p>
        </p:txBody>
      </p:sp>
      <p:sp>
        <p:nvSpPr>
          <p:cNvPr id="148" name="Google Shape;148;p16"/>
          <p:cNvSpPr txBox="1"/>
          <p:nvPr>
            <p:ph idx="1" type="body"/>
          </p:nvPr>
        </p:nvSpPr>
        <p:spPr>
          <a:xfrm>
            <a:off x="819150" y="1584575"/>
            <a:ext cx="7505700" cy="23937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CheckPositive(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'Positive Number'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CheckPositive(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5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7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IF...ELSE Statement</a:t>
            </a:r>
            <a:endParaRPr/>
          </a:p>
        </p:txBody>
      </p:sp>
      <p:sp>
        <p:nvSpPr>
          <p:cNvPr id="154" name="Google Shape;154;p17"/>
          <p:cNvSpPr txBox="1"/>
          <p:nvPr>
            <p:ph idx="1" type="body"/>
          </p:nvPr>
        </p:nvSpPr>
        <p:spPr>
          <a:xfrm>
            <a:off x="819150" y="1990725"/>
            <a:ext cx="7505700" cy="16800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condition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4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statements if true</a:t>
            </a:r>
            <a:endParaRPr sz="14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4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4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statements if false</a:t>
            </a:r>
            <a:endParaRPr sz="14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4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4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700"/>
          </a:p>
        </p:txBody>
      </p:sp>
      <p:sp>
        <p:nvSpPr>
          <p:cNvPr id="155" name="Google Shape;155;p17"/>
          <p:cNvSpPr txBox="1"/>
          <p:nvPr/>
        </p:nvSpPr>
        <p:spPr>
          <a:xfrm>
            <a:off x="819150" y="3912275"/>
            <a:ext cx="7505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7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Case: Use when you need to handle both true and false outcomes.</a:t>
            </a:r>
            <a:endParaRPr sz="17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8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Check if a number is even or odd</a:t>
            </a:r>
            <a:endParaRPr/>
          </a:p>
        </p:txBody>
      </p:sp>
      <p:sp>
        <p:nvSpPr>
          <p:cNvPr id="161" name="Google Shape;161;p18"/>
          <p:cNvSpPr txBox="1"/>
          <p:nvPr>
            <p:ph idx="1" type="body"/>
          </p:nvPr>
        </p:nvSpPr>
        <p:spPr>
          <a:xfrm>
            <a:off x="819150" y="1552175"/>
            <a:ext cx="7505700" cy="27444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CheckEvenOdd(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num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MOD(num,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 </a:t>
            </a:r>
            <a:r>
              <a:rPr lang="en-GB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0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'Even Number'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0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'Odd Number'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Result;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CheckEvenOdd(</a:t>
            </a:r>
            <a:r>
              <a:rPr lang="en-GB" sz="1050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9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IF...ELSEIF...ELSE</a:t>
            </a:r>
            <a:endParaRPr/>
          </a:p>
        </p:txBody>
      </p:sp>
      <p:sp>
        <p:nvSpPr>
          <p:cNvPr id="167" name="Google Shape;167;p19"/>
          <p:cNvSpPr txBox="1"/>
          <p:nvPr>
            <p:ph idx="1" type="body"/>
          </p:nvPr>
        </p:nvSpPr>
        <p:spPr>
          <a:xfrm>
            <a:off x="819150" y="1859000"/>
            <a:ext cx="7505700" cy="18777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condition1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1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code block 1</a:t>
            </a:r>
            <a:endParaRPr sz="11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ELSEIF condition2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1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code block 2</a:t>
            </a:r>
            <a:endParaRPr sz="11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150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150">
                <a:solidFill>
                  <a:srgbClr val="6A9955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-- code block 3</a:t>
            </a:r>
            <a:endParaRPr sz="1150">
              <a:solidFill>
                <a:srgbClr val="6A9955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1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400"/>
          </a:p>
        </p:txBody>
      </p:sp>
      <p:sp>
        <p:nvSpPr>
          <p:cNvPr id="168" name="Google Shape;168;p19"/>
          <p:cNvSpPr txBox="1"/>
          <p:nvPr/>
        </p:nvSpPr>
        <p:spPr>
          <a:xfrm>
            <a:off x="819150" y="3956175"/>
            <a:ext cx="6322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Case: Use when there are multiple conditions to evaluate.</a:t>
            </a:r>
            <a:endParaRPr sz="16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0"/>
          <p:cNvSpPr txBox="1"/>
          <p:nvPr>
            <p:ph type="title"/>
          </p:nvPr>
        </p:nvSpPr>
        <p:spPr>
          <a:xfrm>
            <a:off x="819150" y="593125"/>
            <a:ext cx="7505700" cy="65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2600"/>
              <a:t>Example - IF...ELSEIF...ELSE -&gt; Categorise Marks</a:t>
            </a:r>
            <a:endParaRPr sz="2600"/>
          </a:p>
        </p:txBody>
      </p:sp>
      <p:sp>
        <p:nvSpPr>
          <p:cNvPr id="174" name="Google Shape;174;p20"/>
          <p:cNvSpPr txBox="1"/>
          <p:nvPr>
            <p:ph idx="1" type="body"/>
          </p:nvPr>
        </p:nvSpPr>
        <p:spPr>
          <a:xfrm>
            <a:off x="819150" y="1299600"/>
            <a:ext cx="7505700" cy="34359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GradeStudent(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marks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035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marks </a:t>
            </a:r>
            <a:r>
              <a:rPr lang="en-GB" sz="1035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90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35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'Grade A'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Grade;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ELSEIF marks </a:t>
            </a:r>
            <a:r>
              <a:rPr lang="en-GB" sz="1035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75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35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'Grade B'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Grade;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ELSEIF marks </a:t>
            </a:r>
            <a:r>
              <a:rPr lang="en-GB" sz="1035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&gt;=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60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endParaRPr sz="1035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'Grade C'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Grade;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endParaRPr sz="1035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'Fail'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Grade;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IF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t/>
            </a:r>
            <a:endParaRPr sz="1035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25714"/>
              </a:lnSpc>
              <a:spcBef>
                <a:spcPts val="0"/>
              </a:spcBef>
              <a:spcAft>
                <a:spcPts val="0"/>
              </a:spcAft>
              <a:buSzPts val="770"/>
              <a:buNone/>
            </a:pPr>
            <a:r>
              <a:rPr lang="en-GB" sz="1035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GradeStudent(</a:t>
            </a:r>
            <a:r>
              <a:rPr lang="en-GB" sz="1035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78</a:t>
            </a:r>
            <a:r>
              <a:rPr lang="en-GB" sz="1035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21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21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Syntax - CASE Statement</a:t>
            </a:r>
            <a:endParaRPr/>
          </a:p>
        </p:txBody>
      </p:sp>
      <p:sp>
        <p:nvSpPr>
          <p:cNvPr id="180" name="Google Shape;180;p21"/>
          <p:cNvSpPr txBox="1"/>
          <p:nvPr>
            <p:ph idx="1" type="body"/>
          </p:nvPr>
        </p:nvSpPr>
        <p:spPr>
          <a:xfrm>
            <a:off x="819150" y="1990725"/>
            <a:ext cx="7505700" cy="15702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expression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value1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statement1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value2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statement2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...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default_statement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050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GB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/>
          </a:p>
        </p:txBody>
      </p:sp>
      <p:sp>
        <p:nvSpPr>
          <p:cNvPr id="181" name="Google Shape;181;p21"/>
          <p:cNvSpPr txBox="1"/>
          <p:nvPr/>
        </p:nvSpPr>
        <p:spPr>
          <a:xfrm>
            <a:off x="819150" y="3835425"/>
            <a:ext cx="7505700" cy="47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9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Use Case: Best for comparing one variable against multiple values.</a:t>
            </a:r>
            <a:endParaRPr sz="19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2"/>
          <p:cNvSpPr txBox="1"/>
          <p:nvPr>
            <p:ph type="title"/>
          </p:nvPr>
        </p:nvSpPr>
        <p:spPr>
          <a:xfrm>
            <a:off x="819150" y="845600"/>
            <a:ext cx="7505700" cy="80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Day number to name</a:t>
            </a:r>
            <a:endParaRPr/>
          </a:p>
        </p:txBody>
      </p:sp>
      <p:sp>
        <p:nvSpPr>
          <p:cNvPr id="187" name="Google Shape;187;p22"/>
          <p:cNvSpPr txBox="1"/>
          <p:nvPr>
            <p:ph idx="1" type="body"/>
          </p:nvPr>
        </p:nvSpPr>
        <p:spPr>
          <a:xfrm>
            <a:off x="819150" y="1651100"/>
            <a:ext cx="7505700" cy="3084300"/>
          </a:xfrm>
          <a:prstGeom prst="rect">
            <a:avLst/>
          </a:prstGeom>
          <a:solidFill>
            <a:srgbClr val="1F1F1F"/>
          </a:solidFill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$$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CREATE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PROCEDURE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DayName(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dayNum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INT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BEGIN</a:t>
            </a:r>
            <a:endParaRPr sz="1192">
              <a:solidFill>
                <a:srgbClr val="569CD6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dayNum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1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'Sunday'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'Monday'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WHEN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3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THEN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'Tuesday'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  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ELSE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SELECT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'Invalid Day'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AS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Day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CASE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;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END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$$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DELIMITER ;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714"/>
              </a:lnSpc>
              <a:spcBef>
                <a:spcPts val="0"/>
              </a:spcBef>
              <a:spcAft>
                <a:spcPts val="0"/>
              </a:spcAft>
              <a:buSzPts val="935"/>
              <a:buNone/>
            </a:pPr>
            <a:r>
              <a:rPr lang="en-GB" sz="1192">
                <a:solidFill>
                  <a:srgbClr val="569CD6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CALL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DayName(</a:t>
            </a:r>
            <a:r>
              <a:rPr lang="en-GB" sz="1192">
                <a:solidFill>
                  <a:srgbClr val="B5CEA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2</a:t>
            </a:r>
            <a:r>
              <a:rPr lang="en-GB" sz="1192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);</a:t>
            </a:r>
            <a:endParaRPr sz="1192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405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3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Summary</a:t>
            </a:r>
            <a:endParaRPr/>
          </a:p>
        </p:txBody>
      </p:sp>
      <p:sp>
        <p:nvSpPr>
          <p:cNvPr id="193" name="Google Shape;193;p23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IF – Simple yes/no check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IF...ELSEIF...ELSE – Multiple condition paths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CASE – Clean alternative to multiple IFs</a:t>
            </a:r>
            <a:endParaRPr sz="1600"/>
          </a:p>
          <a:p>
            <a:pPr indent="-330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600"/>
              <a:buChar char="❖"/>
            </a:pPr>
            <a:r>
              <a:rPr lang="en-GB" sz="1600"/>
              <a:t>Always use DELIMITER $$ and END blocks properly in stored procedures</a:t>
            </a:r>
            <a:endParaRPr sz="1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