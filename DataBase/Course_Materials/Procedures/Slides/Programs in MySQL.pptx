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6858000" cy="9144000"/>
  <p:embeddedFontLst>
    <p:embeddedFont>
      <p:font typeface="Proxima Nova"/>
      <p:regular r:id="rId14"/>
      <p:bold r:id="rId15"/>
      <p:italic r:id="rId16"/>
      <p:boldItalic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ProximaNova-bold.fntdata"/><Relationship Id="rId14" Type="http://schemas.openxmlformats.org/officeDocument/2006/relationships/font" Target="fonts/ProximaNova-regular.fntdata"/><Relationship Id="rId17" Type="http://schemas.openxmlformats.org/officeDocument/2006/relationships/font" Target="fonts/ProximaNova-boldItalic.fntdata"/><Relationship Id="rId16" Type="http://schemas.openxmlformats.org/officeDocument/2006/relationships/font" Target="fonts/ProximaNova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8aa13faf1e_0_3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8aa13faf1e_0_3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8aa13faf1e_0_3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8aa13faf1e_0_3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8aa13faf1e_0_4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8aa13faf1e_0_4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8aa13faf1e_0_4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8aa13faf1e_0_4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8aa13faf1e_0_4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8aa13faf1e_0_4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8aa13faf1e_0_4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8aa13faf1e_0_4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8aa13faf1e_0_4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8aa13faf1e_0_4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0" y="2998150"/>
            <a:ext cx="91440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" name="Google Shape;11;p2"/>
          <p:cNvSpPr txBox="1"/>
          <p:nvPr>
            <p:ph type="ctrTitle"/>
          </p:nvPr>
        </p:nvSpPr>
        <p:spPr>
          <a:xfrm>
            <a:off x="510450" y="1257300"/>
            <a:ext cx="8123100" cy="158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510450" y="3182313"/>
            <a:ext cx="8123100" cy="63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Google Shape;15;p3"/>
          <p:cNvCxnSpPr/>
          <p:nvPr/>
        </p:nvCxnSpPr>
        <p:spPr>
          <a:xfrm>
            <a:off x="0" y="2998150"/>
            <a:ext cx="91440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" name="Google Shape;16;p3"/>
          <p:cNvSpPr txBox="1"/>
          <p:nvPr>
            <p:ph type="title"/>
          </p:nvPr>
        </p:nvSpPr>
        <p:spPr>
          <a:xfrm>
            <a:off x="510450" y="2057400"/>
            <a:ext cx="8123100" cy="77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0" name="Google Shape;30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"/>
          <p:cNvSpPr txBox="1"/>
          <p:nvPr>
            <p:ph type="title"/>
          </p:nvPr>
        </p:nvSpPr>
        <p:spPr>
          <a:xfrm>
            <a:off x="490250" y="526350"/>
            <a:ext cx="57975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7" name="Google Shape;37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/>
        </p:nvSpPr>
        <p:spPr>
          <a:xfrm>
            <a:off x="4572000" y="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0" name="Google Shape;40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" name="Google Shape;41;p9"/>
          <p:cNvSpPr txBox="1"/>
          <p:nvPr>
            <p:ph type="title"/>
          </p:nvPr>
        </p:nvSpPr>
        <p:spPr>
          <a:xfrm>
            <a:off x="265500" y="1205825"/>
            <a:ext cx="4045200" cy="1509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2" name="Google Shape;42;p9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3" name="Google Shape;43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4" name="Google Shape;44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0"/>
          <p:cNvSpPr txBox="1"/>
          <p:nvPr>
            <p:ph idx="1" type="body"/>
          </p:nvPr>
        </p:nvSpPr>
        <p:spPr>
          <a:xfrm>
            <a:off x="311700" y="42368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</a:lstStyle>
          <a:p/>
        </p:txBody>
      </p:sp>
      <p:sp>
        <p:nvSpPr>
          <p:cNvPr id="47" name="Google Shape;47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1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11"/>
          <p:cNvSpPr txBox="1"/>
          <p:nvPr>
            <p:ph hasCustomPrompt="1" type="title"/>
          </p:nvPr>
        </p:nvSpPr>
        <p:spPr>
          <a:xfrm>
            <a:off x="311700" y="991475"/>
            <a:ext cx="8520600" cy="1917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/>
          <p:nvPr>
            <p:ph idx="1" type="body"/>
          </p:nvPr>
        </p:nvSpPr>
        <p:spPr>
          <a:xfrm>
            <a:off x="311700" y="3071300"/>
            <a:ext cx="8520600" cy="90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pearmint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Proxima Nova"/>
              <a:buChar char="●"/>
              <a:defRPr sz="18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●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●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Relationship Id="rId4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Relationship Id="rId4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/>
          <p:nvPr>
            <p:ph type="ctrTitle"/>
          </p:nvPr>
        </p:nvSpPr>
        <p:spPr>
          <a:xfrm>
            <a:off x="510450" y="1257300"/>
            <a:ext cx="8123100" cy="158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Programs in </a:t>
            </a:r>
            <a:r>
              <a:rPr lang="en-GB"/>
              <a:t>MySQL</a:t>
            </a:r>
            <a:endParaRPr/>
          </a:p>
        </p:txBody>
      </p:sp>
      <p:sp>
        <p:nvSpPr>
          <p:cNvPr id="60" name="Google Shape;60;p13"/>
          <p:cNvSpPr txBox="1"/>
          <p:nvPr>
            <p:ph idx="1" type="subTitle"/>
          </p:nvPr>
        </p:nvSpPr>
        <p:spPr>
          <a:xfrm>
            <a:off x="510450" y="3182313"/>
            <a:ext cx="8123100" cy="63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Instructor: Sriya Ivaturi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Introduction to MySQL</a:t>
            </a:r>
            <a:endParaRPr/>
          </a:p>
        </p:txBody>
      </p:sp>
      <p:sp>
        <p:nvSpPr>
          <p:cNvPr id="66" name="Google Shape;66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49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900"/>
              <a:buChar char="★"/>
            </a:pPr>
            <a:r>
              <a:rPr lang="en-GB" sz="1900"/>
              <a:t>MySQL is an open-source relational database management system (RDBMS) that stores and manages data efficiently.</a:t>
            </a:r>
            <a:endParaRPr sz="1900"/>
          </a:p>
          <a:p>
            <a:pPr indent="-349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900"/>
              <a:buChar char="★"/>
            </a:pPr>
            <a:r>
              <a:rPr lang="en-GB" sz="1900"/>
              <a:t>It provides various server programs to handle database operations, administration, and maintenance.</a:t>
            </a:r>
            <a:endParaRPr sz="1900"/>
          </a:p>
          <a:p>
            <a:pPr indent="-349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900"/>
              <a:buChar char="★"/>
            </a:pPr>
            <a:r>
              <a:rPr lang="en-GB" sz="1900"/>
              <a:t>MySQL server programs are essential for:</a:t>
            </a:r>
            <a:endParaRPr sz="1900"/>
          </a:p>
          <a:p>
            <a:pPr indent="-3238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sz="1500"/>
              <a:t>Running the database server.</a:t>
            </a:r>
            <a:endParaRPr sz="1500"/>
          </a:p>
          <a:p>
            <a:pPr indent="-3238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sz="1500"/>
              <a:t>Managing database services.</a:t>
            </a:r>
            <a:endParaRPr sz="1500"/>
          </a:p>
          <a:p>
            <a:pPr indent="-3238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sz="1500"/>
              <a:t>Performing backups and administrative tasks.</a:t>
            </a:r>
            <a:endParaRPr sz="1500"/>
          </a:p>
          <a:p>
            <a:pPr indent="-3238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sz="1500"/>
              <a:t>Providing secure and efficient access to data.</a:t>
            </a:r>
            <a:endParaRPr sz="15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Introduction to MySQL Server Programs</a:t>
            </a:r>
            <a:endParaRPr/>
          </a:p>
        </p:txBody>
      </p:sp>
      <p:sp>
        <p:nvSpPr>
          <p:cNvPr id="72" name="Google Shape;72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683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2200"/>
              <a:buChar char="★"/>
            </a:pPr>
            <a:r>
              <a:rPr lang="en-GB" sz="2200"/>
              <a:t>Key MySQL server programs include:</a:t>
            </a:r>
            <a:endParaRPr sz="2200"/>
          </a:p>
          <a:p>
            <a:pPr indent="-34290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GB" sz="1800"/>
              <a:t>mysqld (MySQL Server Daemon)</a:t>
            </a:r>
            <a:endParaRPr sz="1800"/>
          </a:p>
          <a:p>
            <a:pPr indent="-34290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GB" sz="1800"/>
              <a:t>mysql.server (Startup Script for System Services)</a:t>
            </a:r>
            <a:endParaRPr sz="1800"/>
          </a:p>
          <a:p>
            <a:pPr indent="-34290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GB" sz="1800"/>
              <a:t>mysqladmin (Administrative Client)</a:t>
            </a:r>
            <a:endParaRPr sz="1800"/>
          </a:p>
          <a:p>
            <a:pPr indent="-34290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GB" sz="1800"/>
              <a:t>mysql (Command-Line Client)</a:t>
            </a:r>
            <a:endParaRPr sz="1800"/>
          </a:p>
          <a:p>
            <a:pPr indent="-342900" lvl="1" marL="9144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-GB" sz="1800"/>
              <a:t>mysqldump (Backup Utility)</a:t>
            </a:r>
            <a:endParaRPr sz="18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mysqld - The MySQL Server Daemon</a:t>
            </a:r>
            <a:endParaRPr/>
          </a:p>
        </p:txBody>
      </p:sp>
      <p:sp>
        <p:nvSpPr>
          <p:cNvPr id="78" name="Google Shape;78;p16"/>
          <p:cNvSpPr txBox="1"/>
          <p:nvPr>
            <p:ph idx="1" type="body"/>
          </p:nvPr>
        </p:nvSpPr>
        <p:spPr>
          <a:xfrm>
            <a:off x="311700" y="1152475"/>
            <a:ext cx="8520600" cy="358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★"/>
            </a:pPr>
            <a:r>
              <a:rPr lang="en-GB"/>
              <a:t>The core MySQL server program.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★"/>
            </a:pPr>
            <a:r>
              <a:rPr lang="en-GB"/>
              <a:t>Runs in the background and listens for client connections.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★"/>
            </a:pPr>
            <a:r>
              <a:rPr lang="en-GB"/>
              <a:t>Must be running for client programs to access databases.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★"/>
            </a:pPr>
            <a:r>
              <a:rPr lang="en-GB"/>
              <a:t>Check if running:</a:t>
            </a:r>
            <a:endParaRPr/>
          </a:p>
          <a:p>
            <a:pPr indent="0" lvl="0" marL="914400" rtl="0" algn="l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9" name="Google Shape;79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9700" y="2924525"/>
            <a:ext cx="2622225" cy="473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mysql.server - System Startup Script</a:t>
            </a:r>
            <a:endParaRPr/>
          </a:p>
        </p:txBody>
      </p:sp>
      <p:sp>
        <p:nvSpPr>
          <p:cNvPr id="85" name="Google Shape;85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Char char="★"/>
            </a:pPr>
            <a:r>
              <a:rPr lang="en-GB"/>
              <a:t>Used in system service management (init.d or systemd).</a:t>
            </a:r>
            <a:endParaRPr/>
          </a:p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Char char="★"/>
            </a:pPr>
            <a:r>
              <a:rPr lang="en-GB"/>
              <a:t>Start and stop MySQL as a service:</a:t>
            </a:r>
            <a:endParaRPr/>
          </a:p>
          <a:p>
            <a:pPr indent="0" lvl="0" marL="457200" rtl="0" algn="l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SzPts val="1800"/>
              <a:buChar char="★"/>
            </a:pPr>
            <a:r>
              <a:rPr lang="en-GB"/>
              <a:t>Systemd commands:</a:t>
            </a:r>
            <a:endParaRPr/>
          </a:p>
        </p:txBody>
      </p:sp>
      <p:pic>
        <p:nvPicPr>
          <p:cNvPr id="86" name="Google Shape;86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1050" y="2191550"/>
            <a:ext cx="3486150" cy="798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31050" y="3775777"/>
            <a:ext cx="2505075" cy="740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mysql - The Command-Line Client</a:t>
            </a:r>
            <a:endParaRPr/>
          </a:p>
        </p:txBody>
      </p:sp>
      <p:sp>
        <p:nvSpPr>
          <p:cNvPr id="93" name="Google Shape;93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Char char="★"/>
            </a:pPr>
            <a:r>
              <a:rPr lang="en-GB"/>
              <a:t>Used to interact with MySQL databases.</a:t>
            </a:r>
            <a:endParaRPr/>
          </a:p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Char char="★"/>
            </a:pPr>
            <a:r>
              <a:rPr lang="en-GB"/>
              <a:t>Connect to MySQL:</a:t>
            </a:r>
            <a:endParaRPr/>
          </a:p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Char char="★"/>
            </a:pPr>
            <a:r>
              <a:rPr lang="en-GB"/>
              <a:t>Run SQL commands interactively.</a:t>
            </a:r>
            <a:endParaRPr/>
          </a:p>
        </p:txBody>
      </p:sp>
      <p:pic>
        <p:nvPicPr>
          <p:cNvPr id="94" name="Google Shape;94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6225" y="1724525"/>
            <a:ext cx="1814725" cy="431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mysqladmin - Administrative Client</a:t>
            </a:r>
            <a:endParaRPr/>
          </a:p>
        </p:txBody>
      </p:sp>
      <p:sp>
        <p:nvSpPr>
          <p:cNvPr id="100" name="Google Shape;100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Char char="★"/>
            </a:pPr>
            <a:r>
              <a:rPr lang="en-GB"/>
              <a:t>Used for MySQL administration tasks.</a:t>
            </a:r>
            <a:endParaRPr/>
          </a:p>
          <a:p>
            <a:pPr indent="-3429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Char char="★"/>
            </a:pPr>
            <a:r>
              <a:rPr lang="en-GB"/>
              <a:t>Check server status:</a:t>
            </a:r>
            <a:endParaRPr/>
          </a:p>
          <a:p>
            <a:pPr indent="0" lvl="0" marL="0" rtl="0" algn="l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SzPts val="1800"/>
              <a:buChar char="★"/>
            </a:pPr>
            <a:r>
              <a:rPr lang="en-GB"/>
              <a:t>Shutdown</a:t>
            </a:r>
            <a:r>
              <a:rPr lang="en-GB"/>
              <a:t> MySQL:</a:t>
            </a:r>
            <a:endParaRPr/>
          </a:p>
          <a:p>
            <a:pPr indent="0" lvl="0" marL="457200" rtl="0" algn="l">
              <a:lnSpc>
                <a:spcPct val="20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01" name="Google Shape;101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76900" y="2240775"/>
            <a:ext cx="2627025" cy="508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76900" y="3678425"/>
            <a:ext cx="2627025" cy="508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mysqldump - Database Backup Utility</a:t>
            </a:r>
            <a:endParaRPr/>
          </a:p>
        </p:txBody>
      </p:sp>
      <p:sp>
        <p:nvSpPr>
          <p:cNvPr id="108" name="Google Shape;108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★"/>
            </a:pPr>
            <a:r>
              <a:rPr lang="en-GB"/>
              <a:t>Used to create database backups.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★"/>
            </a:pPr>
            <a:r>
              <a:rPr lang="en-GB"/>
              <a:t>Backup a database: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Char char="★"/>
            </a:pPr>
            <a:r>
              <a:rPr lang="en-GB"/>
              <a:t>Restore from backup:</a:t>
            </a:r>
            <a:endParaRPr/>
          </a:p>
          <a:p>
            <a:pPr indent="0" lvl="0" marL="457200" rtl="0" algn="l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09" name="Google Shape;109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76900" y="2019550"/>
            <a:ext cx="3695100" cy="431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76900" y="3184450"/>
            <a:ext cx="3695100" cy="431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pearmint">
  <a:themeElements>
    <a:clrScheme name="Spearmint">
      <a:dk1>
        <a:srgbClr val="202729"/>
      </a:dk1>
      <a:lt1>
        <a:srgbClr val="FFFFFF"/>
      </a:lt1>
      <a:dk2>
        <a:srgbClr val="4BA173"/>
      </a:dk2>
      <a:lt2>
        <a:srgbClr val="63D297"/>
      </a:lt2>
      <a:accent1>
        <a:srgbClr val="353744"/>
      </a:accent1>
      <a:accent2>
        <a:srgbClr val="424242"/>
      </a:accent2>
      <a:accent3>
        <a:srgbClr val="616161"/>
      </a:accent3>
      <a:accent4>
        <a:srgbClr val="999999"/>
      </a:accent4>
      <a:accent5>
        <a:srgbClr val="FF5252"/>
      </a:accent5>
      <a:accent6>
        <a:srgbClr val="FFF176"/>
      </a:accent6>
      <a:hlink>
        <a:srgbClr val="FF5252"/>
      </a:hlink>
      <a:folHlink>
        <a:srgbClr val="FF525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