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Roboto"/>
      <p:regular r:id="rId30"/>
      <p:bold r:id="rId31"/>
      <p:italic r:id="rId32"/>
      <p:boldItalic r:id="rId33"/>
    </p:embeddedFont>
    <p:embeddedFont>
      <p:font typeface="Merriweather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bold.fntdata"/><Relationship Id="rId30" Type="http://schemas.openxmlformats.org/officeDocument/2006/relationships/font" Target="fonts/Roboto-regular.fntdata"/><Relationship Id="rId11" Type="http://schemas.openxmlformats.org/officeDocument/2006/relationships/slide" Target="slides/slide6.xml"/><Relationship Id="rId33" Type="http://schemas.openxmlformats.org/officeDocument/2006/relationships/font" Target="fonts/Roboto-boldItalic.fntdata"/><Relationship Id="rId10" Type="http://schemas.openxmlformats.org/officeDocument/2006/relationships/slide" Target="slides/slide5.xml"/><Relationship Id="rId32" Type="http://schemas.openxmlformats.org/officeDocument/2006/relationships/font" Target="fonts/Roboto-italic.fntdata"/><Relationship Id="rId13" Type="http://schemas.openxmlformats.org/officeDocument/2006/relationships/slide" Target="slides/slide8.xml"/><Relationship Id="rId35" Type="http://schemas.openxmlformats.org/officeDocument/2006/relationships/font" Target="fonts/Merriweather-bold.fntdata"/><Relationship Id="rId12" Type="http://schemas.openxmlformats.org/officeDocument/2006/relationships/slide" Target="slides/slide7.xml"/><Relationship Id="rId34" Type="http://schemas.openxmlformats.org/officeDocument/2006/relationships/font" Target="fonts/Merriweather-regular.fntdata"/><Relationship Id="rId15" Type="http://schemas.openxmlformats.org/officeDocument/2006/relationships/slide" Target="slides/slide10.xml"/><Relationship Id="rId37" Type="http://schemas.openxmlformats.org/officeDocument/2006/relationships/font" Target="fonts/Merriweather-boldItalic.fntdata"/><Relationship Id="rId14" Type="http://schemas.openxmlformats.org/officeDocument/2006/relationships/slide" Target="slides/slide9.xml"/><Relationship Id="rId36" Type="http://schemas.openxmlformats.org/officeDocument/2006/relationships/font" Target="fonts/Merriweather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80e135fc0d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80e135fc0d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80e135fc0d_0_9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80e135fc0d_0_9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80e135fc0d_0_9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80e135fc0d_0_9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0e135fc0d_0_9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80e135fc0d_0_9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80e135fc0d_0_9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80e135fc0d_0_9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7ae55494bb569b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7ae55494bb569b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0e135fc0d_0_9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80e135fc0d_0_9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80e135fc0d_0_9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80e135fc0d_0_9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80e135fc0d_0_9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80e135fc0d_0_9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80e135fc0d_0_9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80e135fc0d_0_9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80e135fc0d_0_10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80e135fc0d_0_10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80e135fc0d_0_10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80e135fc0d_0_10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8ef67e657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8ef67e657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80e135fc0d_0_10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80e135fc0d_0_10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80e135fc0d_0_10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80e135fc0d_0_10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80e135fc0d_0_1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80e135fc0d_0_1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80e135fc0d_0_10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80e135fc0d_0_1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80e135fc0d_0_10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80e135fc0d_0_10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80e135fc0d_0_10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80e135fc0d_0_10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80e135fc0d_0_10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80e135fc0d_0_10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80e135fc0d_0_10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80e135fc0d_0_10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80e135fc0d_0_10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80e135fc0d_0_10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80e135fc0d_0_10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80e135fc0d_0_10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new.name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/>
              <a:t>Triggers in MySQL</a:t>
            </a:r>
            <a:endParaRPr sz="48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Automatic execution of SQL in response to table events</a:t>
            </a:r>
            <a:endParaRPr sz="4900"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311700" y="2251785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Instructor</a:t>
            </a:r>
            <a:r>
              <a:rPr lang="en-GB"/>
              <a:t>: Sriya Ivaturi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169000" y="500925"/>
            <a:ext cx="39606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/>
              <a:t>Introduction to Triggers</a:t>
            </a:r>
            <a:endParaRPr sz="4800"/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en-GB" sz="1700"/>
              <a:t>A trigger is a named set of SQL statements</a:t>
            </a:r>
            <a:endParaRPr sz="1700"/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en-GB" sz="1700"/>
              <a:t>Executes automatically in response to INSERT, UPDATE, DELETE</a:t>
            </a:r>
            <a:endParaRPr sz="1700"/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en-GB" sz="1700"/>
              <a:t>Can run BEFORE or AFTER the event</a:t>
            </a:r>
            <a:endParaRPr sz="1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/>
              <a:t>When to Use Triggers</a:t>
            </a:r>
            <a:endParaRPr sz="4800"/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100"/>
              <a:buChar char="❖"/>
            </a:pPr>
            <a:r>
              <a:rPr lang="en-GB" sz="2100"/>
              <a:t>Automatically enforce rules</a:t>
            </a:r>
            <a:endParaRPr sz="2100"/>
          </a:p>
          <a:p>
            <a:pPr indent="-3619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100"/>
              <a:buChar char="❖"/>
            </a:pPr>
            <a:r>
              <a:rPr lang="en-GB" sz="2100"/>
              <a:t>Track changes in audit tables</a:t>
            </a:r>
            <a:endParaRPr sz="2100"/>
          </a:p>
          <a:p>
            <a:pPr indent="-3619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100"/>
              <a:buChar char="❖"/>
            </a:pPr>
            <a:r>
              <a:rPr lang="en-GB" sz="2100"/>
              <a:t>Maintain summary data</a:t>
            </a:r>
            <a:endParaRPr sz="2100"/>
          </a:p>
          <a:p>
            <a:pPr indent="-3619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100"/>
              <a:buChar char="❖"/>
            </a:pPr>
            <a:r>
              <a:rPr lang="en-GB" sz="2100"/>
              <a:t>Validate or transform input data</a:t>
            </a:r>
            <a:endParaRPr sz="2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/>
              <a:t>Trigger Syntax</a:t>
            </a:r>
            <a:endParaRPr sz="4800"/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  <a:solidFill>
            <a:srgbClr val="1F1F1F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CREATE</a:t>
            </a:r>
            <a:r>
              <a:rPr lang="en-GB" sz="1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9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TRIGGER</a:t>
            </a:r>
            <a:r>
              <a:rPr lang="en-GB" sz="1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9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trigger_name</a:t>
            </a:r>
            <a:endParaRPr sz="1900">
              <a:solidFill>
                <a:srgbClr val="DCDCAA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GB" sz="19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BEFORE</a:t>
            </a:r>
            <a:r>
              <a:rPr lang="en-GB" sz="1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| </a:t>
            </a:r>
            <a:r>
              <a:rPr lang="en-GB" sz="19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AFTER</a:t>
            </a:r>
            <a:r>
              <a:rPr lang="en-GB" sz="1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 sz="19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GB" sz="19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INSERT</a:t>
            </a:r>
            <a:r>
              <a:rPr lang="en-GB" sz="1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| </a:t>
            </a:r>
            <a:r>
              <a:rPr lang="en-GB" sz="19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UPDATE</a:t>
            </a:r>
            <a:r>
              <a:rPr lang="en-GB" sz="1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| </a:t>
            </a:r>
            <a:r>
              <a:rPr lang="en-GB" sz="19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DELETE</a:t>
            </a:r>
            <a:r>
              <a:rPr lang="en-GB" sz="1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9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en-GB" sz="1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table_name</a:t>
            </a:r>
            <a:endParaRPr sz="19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GB" sz="1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EACH </a:t>
            </a:r>
            <a:r>
              <a:rPr lang="en-GB" sz="19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ROW</a:t>
            </a:r>
            <a:endParaRPr sz="190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sz="190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90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-- trigger body</a:t>
            </a:r>
            <a:endParaRPr sz="190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9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/>
              <a:t>Types of Triggers</a:t>
            </a:r>
            <a:endParaRPr sz="4800"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❖"/>
            </a:pPr>
            <a:r>
              <a:rPr b="1" lang="en-GB"/>
              <a:t>BEFORE INSERT -&gt;</a:t>
            </a:r>
            <a:r>
              <a:rPr lang="en-GB"/>
              <a:t> modify/validate data before inserting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❖"/>
            </a:pPr>
            <a:r>
              <a:rPr b="1" lang="en-GB"/>
              <a:t>AFTER INSERT -&gt;</a:t>
            </a:r>
            <a:r>
              <a:rPr lang="en-GB"/>
              <a:t> log insertions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❖"/>
            </a:pPr>
            <a:r>
              <a:rPr b="1" lang="en-GB"/>
              <a:t>BEFORE UPDATE -&gt;</a:t>
            </a:r>
            <a:r>
              <a:rPr lang="en-GB"/>
              <a:t> check/alter new values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❖"/>
            </a:pPr>
            <a:r>
              <a:rPr b="1" lang="en-GB"/>
              <a:t>AFTER UPDATE -&gt;</a:t>
            </a:r>
            <a:r>
              <a:rPr lang="en-GB"/>
              <a:t> log changes, sync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❖"/>
            </a:pPr>
            <a:r>
              <a:rPr b="1" lang="en-GB"/>
              <a:t>BEFORE DELETE -&gt;</a:t>
            </a:r>
            <a:r>
              <a:rPr lang="en-GB"/>
              <a:t> prevent deletion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❖"/>
            </a:pPr>
            <a:r>
              <a:rPr b="1" lang="en-GB"/>
              <a:t>AFTER DELETE -&gt;</a:t>
            </a:r>
            <a:r>
              <a:rPr lang="en-GB"/>
              <a:t> archive/log old data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25" y="500925"/>
            <a:ext cx="3706500" cy="319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/>
              <a:t>AFTER INSERT Trigger Example</a:t>
            </a:r>
            <a:endParaRPr sz="4800"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4316225" y="643625"/>
            <a:ext cx="4742100" cy="3257700"/>
          </a:xfrm>
          <a:prstGeom prst="rect">
            <a:avLst/>
          </a:prstGeom>
          <a:solidFill>
            <a:srgbClr val="1F1F1F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CREATE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TRIGGER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4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after_student_insert</a:t>
            </a:r>
            <a:endParaRPr sz="1450">
              <a:solidFill>
                <a:srgbClr val="DCDCAA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AFTER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INSERT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students</a:t>
            </a:r>
            <a:endParaRPr sz="14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EACH 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ROW</a:t>
            </a:r>
            <a:endParaRPr sz="14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sz="14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INSERT INTO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audit_log(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action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VALUES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-GB" sz="14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'New student added'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NEW.name);</a:t>
            </a:r>
            <a:endParaRPr sz="14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/>
              <a:t>BEFORE UPDATE – Compare OLD and NEW</a:t>
            </a:r>
            <a:endParaRPr sz="4000"/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4316225" y="500925"/>
            <a:ext cx="4775100" cy="3521100"/>
          </a:xfrm>
          <a:prstGeom prst="rect">
            <a:avLst/>
          </a:prstGeom>
          <a:solidFill>
            <a:srgbClr val="1F1F1F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CREATE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TRIGGER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5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before_salary_change</a:t>
            </a:r>
            <a:endParaRPr sz="1550">
              <a:solidFill>
                <a:srgbClr val="DCDCAA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BEFORE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UPDATE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employees</a:t>
            </a:r>
            <a:endParaRPr sz="15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EACH </a:t>
            </a: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ROW</a:t>
            </a:r>
            <a:endParaRPr sz="15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sz="15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NEW.salary </a:t>
            </a:r>
            <a:r>
              <a:rPr lang="en-GB" sz="15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OLD.salary </a:t>
            </a: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endParaRPr sz="15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SIGNAL SQLSTATE </a:t>
            </a:r>
            <a:r>
              <a:rPr lang="en-GB" sz="15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'45000'</a:t>
            </a:r>
            <a:endParaRPr sz="1550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MESSAGE_TEXT </a:t>
            </a:r>
            <a:r>
              <a:rPr lang="en-GB" sz="15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5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'Salary decrease not allowed'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25" y="500925"/>
            <a:ext cx="3706500" cy="311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/>
              <a:t>BEFORE UPDATE Trigger Example</a:t>
            </a:r>
            <a:endParaRPr sz="4800"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4513825" y="654525"/>
            <a:ext cx="4456800" cy="2961300"/>
          </a:xfrm>
          <a:prstGeom prst="rect">
            <a:avLst/>
          </a:prstGeom>
          <a:solidFill>
            <a:srgbClr val="1F1F1F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CREATE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TRIGGER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5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before_name_update</a:t>
            </a:r>
            <a:endParaRPr sz="1550">
              <a:solidFill>
                <a:srgbClr val="DCDCAA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BEFORE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UPDATE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employees</a:t>
            </a:r>
            <a:endParaRPr sz="15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EACH </a:t>
            </a: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ROW</a:t>
            </a:r>
            <a:endParaRPr sz="15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sz="15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NEW.name </a:t>
            </a:r>
            <a:r>
              <a:rPr lang="en-GB" sz="15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5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UPPER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(NEW.name);</a:t>
            </a:r>
            <a:endParaRPr sz="15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0" y="500925"/>
            <a:ext cx="43053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/>
              <a:t>Understanding NEW and OLD</a:t>
            </a:r>
            <a:endParaRPr sz="4400"/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❖"/>
            </a:pPr>
            <a:r>
              <a:rPr lang="en-GB" sz="2400"/>
              <a:t>`NEW`: new row value (INSERT or UPDATE)</a:t>
            </a:r>
            <a:endParaRPr sz="2400"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❖"/>
            </a:pPr>
            <a:r>
              <a:rPr lang="en-GB" sz="2400"/>
              <a:t>`OLD`: existing row value (UPDATE or DELETE)</a:t>
            </a:r>
            <a:endParaRPr sz="2400"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❖"/>
            </a:pPr>
            <a:r>
              <a:rPr lang="en-GB" sz="2400"/>
              <a:t>Use to compare, validate, or log data changes</a:t>
            </a:r>
            <a:endParaRPr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/>
              <a:t>When to Use NEW and OLD</a:t>
            </a:r>
            <a:endParaRPr sz="4800"/>
          </a:p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Char char="❖"/>
            </a:pPr>
            <a:r>
              <a:rPr b="1" lang="en-GB" sz="2300"/>
              <a:t>INSERT: </a:t>
            </a:r>
            <a:r>
              <a:rPr lang="en-GB" sz="2300"/>
              <a:t>NEW ✅, OLD ❌</a:t>
            </a:r>
            <a:endParaRPr sz="2300"/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Char char="❖"/>
            </a:pPr>
            <a:r>
              <a:rPr b="1" lang="en-GB" sz="2300"/>
              <a:t>UPDATE:</a:t>
            </a:r>
            <a:r>
              <a:rPr lang="en-GB" sz="2300"/>
              <a:t> NEW ✅, OLD ✅</a:t>
            </a:r>
            <a:endParaRPr sz="2300"/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Char char="❖"/>
            </a:pPr>
            <a:r>
              <a:rPr b="1" lang="en-GB" sz="2300"/>
              <a:t>DELETE:</a:t>
            </a:r>
            <a:r>
              <a:rPr lang="en-GB" sz="2300"/>
              <a:t> NEW ❌, OLD ✅</a:t>
            </a:r>
            <a:endParaRPr sz="23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-3746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300"/>
              <a:buChar char="❖"/>
            </a:pPr>
            <a:r>
              <a:rPr lang="en-GB" sz="2300"/>
              <a:t>Only use NEW in BEFORE to modify values</a:t>
            </a:r>
            <a:endParaRPr sz="2300"/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Char char="❖"/>
            </a:pPr>
            <a:r>
              <a:rPr lang="en-GB" sz="2300"/>
              <a:t>OLD is always read-only</a:t>
            </a:r>
            <a:endParaRPr sz="23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/>
              <a:t>Examples with NEW and OLD</a:t>
            </a:r>
            <a:endParaRPr sz="4800"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4349175" y="500925"/>
            <a:ext cx="47949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GB" sz="1800"/>
              <a:t>BEFORE INSERT:</a:t>
            </a:r>
            <a:endParaRPr b="1" sz="1800"/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SET NEW.name = UPPER(</a:t>
            </a:r>
            <a:r>
              <a:rPr lang="en-GB" sz="1700" u="sng">
                <a:solidFill>
                  <a:schemeClr val="hlink"/>
                </a:solidFill>
                <a:hlinkClick r:id="rId3"/>
              </a:rPr>
              <a:t>NEW.name</a:t>
            </a:r>
            <a:r>
              <a:rPr lang="en-GB" sz="1700"/>
              <a:t>);</a:t>
            </a:r>
            <a:endParaRPr sz="17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GB" sz="1800"/>
              <a:t>BEFORE UPDATE:</a:t>
            </a:r>
            <a:endParaRPr b="1" sz="1800"/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IF NEW.salary &lt; OLD.salary THEN error;</a:t>
            </a:r>
            <a:endParaRPr sz="17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GB" sz="1800"/>
              <a:t>AFTER DELETE:</a:t>
            </a:r>
            <a:endParaRPr b="1"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Log OLD.id and OLD.name into archive table</a:t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/>
              <a:t>Rules for NEW and OLD</a:t>
            </a:r>
            <a:endParaRPr sz="4800"/>
          </a:p>
        </p:txBody>
      </p:sp>
      <p:sp>
        <p:nvSpPr>
          <p:cNvPr id="131" name="Google Shape;131;p2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900"/>
              <a:buChar char="❖"/>
            </a:pPr>
            <a:r>
              <a:rPr lang="en-GB" sz="1900"/>
              <a:t>❌ Cannot assign to OLD</a:t>
            </a:r>
            <a:endParaRPr sz="1900"/>
          </a:p>
          <a:p>
            <a:pPr indent="-3492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900"/>
              <a:buChar char="❖"/>
            </a:pPr>
            <a:r>
              <a:rPr lang="en-GB" sz="1900"/>
              <a:t>✅ Can assign to NEW only in BEFORE triggers</a:t>
            </a:r>
            <a:endParaRPr sz="1900"/>
          </a:p>
          <a:p>
            <a:pPr indent="-3492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900"/>
              <a:buChar char="❖"/>
            </a:pPr>
            <a:r>
              <a:rPr lang="en-GB" sz="1900"/>
              <a:t>❌ NEW not available in DELETE</a:t>
            </a:r>
            <a:endParaRPr sz="1900"/>
          </a:p>
          <a:p>
            <a:pPr indent="-3492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900"/>
              <a:buChar char="❖"/>
            </a:pPr>
            <a:r>
              <a:rPr lang="en-GB" sz="1900"/>
              <a:t>❌ OLD not available in INSERT</a:t>
            </a:r>
            <a:endParaRPr sz="1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311725" y="500925"/>
            <a:ext cx="3706500" cy="30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500"/>
              <a:t>BEFORE INSERT – Modify NEW</a:t>
            </a:r>
            <a:endParaRPr sz="4500"/>
          </a:p>
        </p:txBody>
      </p:sp>
      <p:sp>
        <p:nvSpPr>
          <p:cNvPr id="137" name="Google Shape;137;p25"/>
          <p:cNvSpPr txBox="1"/>
          <p:nvPr>
            <p:ph idx="1" type="body"/>
          </p:nvPr>
        </p:nvSpPr>
        <p:spPr>
          <a:xfrm>
            <a:off x="4316225" y="500925"/>
            <a:ext cx="4827900" cy="3587100"/>
          </a:xfrm>
          <a:prstGeom prst="rect">
            <a:avLst/>
          </a:prstGeom>
          <a:solidFill>
            <a:srgbClr val="1F1F1F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CREATE</a:t>
            </a:r>
            <a:r>
              <a:rPr lang="en-GB" sz="1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9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TRIGGER</a:t>
            </a:r>
            <a:r>
              <a:rPr lang="en-GB" sz="1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9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before_insert_user</a:t>
            </a:r>
            <a:endParaRPr sz="1900">
              <a:solidFill>
                <a:srgbClr val="DCDCAA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BEFORE</a:t>
            </a:r>
            <a:r>
              <a:rPr lang="en-GB" sz="1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9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INSERT</a:t>
            </a:r>
            <a:r>
              <a:rPr lang="en-GB" sz="1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9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en-GB" sz="1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users</a:t>
            </a:r>
            <a:endParaRPr sz="19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GB" sz="1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EACH </a:t>
            </a:r>
            <a:r>
              <a:rPr lang="en-GB" sz="19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ROW</a:t>
            </a:r>
            <a:endParaRPr sz="190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sz="190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9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lang="en-GB" sz="1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NEW.name </a:t>
            </a:r>
            <a:r>
              <a:rPr lang="en-GB" sz="19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9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UPPER</a:t>
            </a:r>
            <a:r>
              <a:rPr lang="en-GB" sz="1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(NEW.name); </a:t>
            </a:r>
            <a:endParaRPr sz="19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-- Capitalize name</a:t>
            </a:r>
            <a:endParaRPr sz="190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type="title"/>
          </p:nvPr>
        </p:nvSpPr>
        <p:spPr>
          <a:xfrm>
            <a:off x="311725" y="500925"/>
            <a:ext cx="3706500" cy="319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/>
              <a:t>AFTER INSERT Trigger Example</a:t>
            </a:r>
            <a:endParaRPr sz="4800"/>
          </a:p>
        </p:txBody>
      </p:sp>
      <p:sp>
        <p:nvSpPr>
          <p:cNvPr id="143" name="Google Shape;143;p26"/>
          <p:cNvSpPr txBox="1"/>
          <p:nvPr>
            <p:ph idx="1" type="body"/>
          </p:nvPr>
        </p:nvSpPr>
        <p:spPr>
          <a:xfrm>
            <a:off x="4316225" y="643625"/>
            <a:ext cx="4742100" cy="3257700"/>
          </a:xfrm>
          <a:prstGeom prst="rect">
            <a:avLst/>
          </a:prstGeom>
          <a:solidFill>
            <a:srgbClr val="1F1F1F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CREATE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TRIGGER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4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after_student_insert</a:t>
            </a:r>
            <a:endParaRPr sz="1450">
              <a:solidFill>
                <a:srgbClr val="DCDCAA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AFTER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INSERT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students</a:t>
            </a:r>
            <a:endParaRPr sz="14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EACH 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ROW</a:t>
            </a:r>
            <a:endParaRPr sz="14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sz="14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INSERT INTO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audit_log(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action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VALUES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-GB" sz="14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'New student added'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NEW.name);</a:t>
            </a:r>
            <a:endParaRPr sz="14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7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/>
              <a:t>BEFORE UPDATE – Compare OLD and NEW</a:t>
            </a:r>
            <a:endParaRPr sz="4000"/>
          </a:p>
        </p:txBody>
      </p:sp>
      <p:sp>
        <p:nvSpPr>
          <p:cNvPr id="149" name="Google Shape;149;p27"/>
          <p:cNvSpPr txBox="1"/>
          <p:nvPr>
            <p:ph idx="1" type="body"/>
          </p:nvPr>
        </p:nvSpPr>
        <p:spPr>
          <a:xfrm>
            <a:off x="4316225" y="500925"/>
            <a:ext cx="4775100" cy="3521100"/>
          </a:xfrm>
          <a:prstGeom prst="rect">
            <a:avLst/>
          </a:prstGeom>
          <a:solidFill>
            <a:srgbClr val="1F1F1F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CREATE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TRIGGER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5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before_salary_change</a:t>
            </a:r>
            <a:endParaRPr sz="1550">
              <a:solidFill>
                <a:srgbClr val="DCDCAA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BEFORE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UPDATE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employees</a:t>
            </a:r>
            <a:endParaRPr sz="15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EACH </a:t>
            </a: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ROW</a:t>
            </a:r>
            <a:endParaRPr sz="15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sz="15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NEW.salary </a:t>
            </a:r>
            <a:r>
              <a:rPr lang="en-GB" sz="15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OLD.salary </a:t>
            </a: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endParaRPr sz="15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SIGNAL SQLSTATE </a:t>
            </a:r>
            <a:r>
              <a:rPr lang="en-GB" sz="15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'45000'</a:t>
            </a:r>
            <a:endParaRPr sz="1550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MESSAGE_TEXT </a:t>
            </a:r>
            <a:r>
              <a:rPr lang="en-GB" sz="15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5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'Salary decrease not allowed'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200"/>
              <a:t>AFTER UPDATE Trigger – Log Changes</a:t>
            </a:r>
            <a:endParaRPr sz="4200"/>
          </a:p>
        </p:txBody>
      </p:sp>
      <p:sp>
        <p:nvSpPr>
          <p:cNvPr id="155" name="Google Shape;155;p28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  <a:solidFill>
            <a:srgbClr val="1F1F1F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DELIMITER </a:t>
            </a:r>
            <a:r>
              <a:rPr lang="en-GB" sz="12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//</a:t>
            </a:r>
            <a:endParaRPr sz="1250">
              <a:solidFill>
                <a:srgbClr val="D4D4D4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CREATE</a:t>
            </a: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2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TRIGGER</a:t>
            </a: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2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after_name_update</a:t>
            </a:r>
            <a:endParaRPr sz="1250">
              <a:solidFill>
                <a:srgbClr val="DCDCAA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AFTER</a:t>
            </a: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2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UPDATE</a:t>
            </a: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2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employees</a:t>
            </a:r>
            <a:endParaRPr sz="12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EACH </a:t>
            </a:r>
            <a:r>
              <a:rPr lang="en-GB" sz="12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ROW</a:t>
            </a:r>
            <a:endParaRPr sz="12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sz="12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25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-- Log the old and new name when it changes</a:t>
            </a:r>
            <a:endParaRPr sz="125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2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OLD.name </a:t>
            </a:r>
            <a:r>
              <a:rPr lang="en-GB" sz="12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&lt;&gt;</a:t>
            </a: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NEW.name </a:t>
            </a:r>
            <a:r>
              <a:rPr lang="en-GB" sz="12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endParaRPr sz="12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INSERT INTO</a:t>
            </a: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employee_changes (emp_id, old_name, new_name)</a:t>
            </a:r>
            <a:endParaRPr sz="12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VALUES</a:t>
            </a: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(OLD.id, OLD.name, NEW.name);</a:t>
            </a:r>
            <a:endParaRPr sz="12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2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2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//</a:t>
            </a:r>
            <a:endParaRPr sz="1250">
              <a:solidFill>
                <a:srgbClr val="D4D4D4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DELIMITER ;</a:t>
            </a:r>
            <a:endParaRPr sz="15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/>
          <p:nvPr>
            <p:ph type="title"/>
          </p:nvPr>
        </p:nvSpPr>
        <p:spPr>
          <a:xfrm>
            <a:off x="0" y="500925"/>
            <a:ext cx="43383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900"/>
              <a:t>BEFORE DELETE Trigger – Prevent Deletion</a:t>
            </a:r>
            <a:endParaRPr sz="3900"/>
          </a:p>
        </p:txBody>
      </p:sp>
      <p:sp>
        <p:nvSpPr>
          <p:cNvPr id="161" name="Google Shape;161;p29"/>
          <p:cNvSpPr txBox="1"/>
          <p:nvPr>
            <p:ph idx="1" type="body"/>
          </p:nvPr>
        </p:nvSpPr>
        <p:spPr>
          <a:xfrm>
            <a:off x="4338300" y="709500"/>
            <a:ext cx="4805700" cy="3334500"/>
          </a:xfrm>
          <a:prstGeom prst="rect">
            <a:avLst/>
          </a:prstGeom>
          <a:solidFill>
            <a:srgbClr val="000000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DELIMITER </a:t>
            </a:r>
            <a:r>
              <a:rPr lang="en-GB" sz="11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//</a:t>
            </a:r>
            <a:endParaRPr sz="1150">
              <a:solidFill>
                <a:srgbClr val="D4D4D4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CREATE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TRIGGER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before_employee_delete</a:t>
            </a:r>
            <a:endParaRPr sz="1150">
              <a:solidFill>
                <a:srgbClr val="DCDCAA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BEFORE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DELETE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employees</a:t>
            </a:r>
            <a:endParaRPr sz="11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EACH </a:t>
            </a: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ROW</a:t>
            </a:r>
            <a:endParaRPr sz="11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sz="11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5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-- Prevent deletion of Managers</a:t>
            </a:r>
            <a:endParaRPr sz="115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OLD.role </a:t>
            </a:r>
            <a:r>
              <a:rPr lang="en-GB" sz="11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'Manager'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endParaRPr sz="11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SIGNAL SQLSTATE </a:t>
            </a:r>
            <a:r>
              <a:rPr lang="en-GB" sz="11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'45000'</a:t>
            </a:r>
            <a:endParaRPr sz="1150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MESSAGE_TEXT </a:t>
            </a:r>
            <a:r>
              <a:rPr lang="en-GB" sz="11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'Cannot delete Managers'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//</a:t>
            </a:r>
            <a:endParaRPr sz="1150">
              <a:solidFill>
                <a:srgbClr val="D4D4D4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DELIMITER ;</a:t>
            </a:r>
            <a:endParaRPr sz="1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0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500"/>
              <a:t>AFTER DELETE – Log OLD Data</a:t>
            </a:r>
            <a:endParaRPr sz="4500"/>
          </a:p>
        </p:txBody>
      </p:sp>
      <p:sp>
        <p:nvSpPr>
          <p:cNvPr id="167" name="Google Shape;167;p30"/>
          <p:cNvSpPr txBox="1"/>
          <p:nvPr>
            <p:ph idx="1" type="body"/>
          </p:nvPr>
        </p:nvSpPr>
        <p:spPr>
          <a:xfrm>
            <a:off x="4327200" y="500925"/>
            <a:ext cx="4816800" cy="4245600"/>
          </a:xfrm>
          <a:prstGeom prst="rect">
            <a:avLst/>
          </a:prstGeom>
          <a:solidFill>
            <a:srgbClr val="1F1F1F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CREATE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TRIGGER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5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after_delete_product</a:t>
            </a:r>
            <a:endParaRPr sz="1550">
              <a:solidFill>
                <a:srgbClr val="DCDCAA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AFTER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DELETE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products</a:t>
            </a:r>
            <a:endParaRPr sz="15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EACH </a:t>
            </a: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ROW</a:t>
            </a:r>
            <a:endParaRPr sz="15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sz="15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INSERT INTO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deleted_products_log (product_id, </a:t>
            </a: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5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VALUES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(OLD.id, OLD.name);</a:t>
            </a:r>
            <a:endParaRPr sz="15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1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Summary Of New and Old</a:t>
            </a:r>
            <a:endParaRPr sz="2800"/>
          </a:p>
        </p:txBody>
      </p:sp>
      <p:pic>
        <p:nvPicPr>
          <p:cNvPr id="173" name="Google Shape;17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2400"/>
            <a:ext cx="9143999" cy="374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2"/>
          <p:cNvSpPr txBox="1"/>
          <p:nvPr>
            <p:ph type="title"/>
          </p:nvPr>
        </p:nvSpPr>
        <p:spPr>
          <a:xfrm>
            <a:off x="311725" y="500925"/>
            <a:ext cx="3706500" cy="303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500"/>
              <a:t>Things to Remember about NEW and OLD</a:t>
            </a:r>
            <a:endParaRPr sz="4500"/>
          </a:p>
        </p:txBody>
      </p:sp>
      <p:sp>
        <p:nvSpPr>
          <p:cNvPr id="179" name="Google Shape;179;p32"/>
          <p:cNvSpPr txBox="1"/>
          <p:nvPr>
            <p:ph idx="1" type="body"/>
          </p:nvPr>
        </p:nvSpPr>
        <p:spPr>
          <a:xfrm>
            <a:off x="4644675" y="500925"/>
            <a:ext cx="4166400" cy="42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🚫 You cannot assign values to OLD in any trigger.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/>
              <a:t>✅ You can assign to NEW only in BEFORE triggers.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/>
              <a:t>🚫 You cannot use NEW in DELETE triggers.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/>
              <a:t>🚫 You cannot use OLD in INSERT triggers.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700"/>
              <a:t>Triggers are row-level, so NEW/OLD refer to one row at a time.</a:t>
            </a:r>
            <a:endParaRPr sz="17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3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/>
              <a:t>Real Time  Use Cases</a:t>
            </a:r>
            <a:endParaRPr sz="4800"/>
          </a:p>
        </p:txBody>
      </p:sp>
      <p:sp>
        <p:nvSpPr>
          <p:cNvPr id="185" name="Google Shape;185;p33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000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700"/>
              <a:buChar char="❖"/>
            </a:pPr>
            <a:r>
              <a:rPr lang="en-GB" sz="2700"/>
              <a:t>Enforce business rules</a:t>
            </a:r>
            <a:endParaRPr sz="2700"/>
          </a:p>
          <a:p>
            <a:pPr indent="-4000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700"/>
              <a:buChar char="❖"/>
            </a:pPr>
            <a:r>
              <a:rPr lang="en-GB" sz="2700"/>
              <a:t>Audit trails</a:t>
            </a:r>
            <a:endParaRPr sz="2700"/>
          </a:p>
          <a:p>
            <a:pPr indent="-4000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700"/>
              <a:buChar char="❖"/>
            </a:pPr>
            <a:r>
              <a:rPr lang="en-GB" sz="2700"/>
              <a:t>Maintain consistency</a:t>
            </a:r>
            <a:endParaRPr sz="2700"/>
          </a:p>
          <a:p>
            <a:pPr indent="-4000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700"/>
              <a:buChar char="❖"/>
            </a:pPr>
            <a:r>
              <a:rPr lang="en-GB" sz="2700"/>
              <a:t>Auto-formatting data</a:t>
            </a:r>
            <a:endParaRPr sz="27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/>
              <a:t>Questions</a:t>
            </a:r>
            <a:endParaRPr sz="4800"/>
          </a:p>
        </p:txBody>
      </p:sp>
      <p:sp>
        <p:nvSpPr>
          <p:cNvPr id="191" name="Google Shape;191;p3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/>
              <a:t>Q1: Difference between BEFORE and AFTER?</a:t>
            </a:r>
            <a:endParaRPr sz="2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500"/>
              <a:t>Q2: Can you change OLD values in a trigger?</a:t>
            </a:r>
            <a:endParaRPr sz="25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5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/>
              <a:t>Answers</a:t>
            </a:r>
            <a:endParaRPr sz="4800"/>
          </a:p>
        </p:txBody>
      </p:sp>
      <p:sp>
        <p:nvSpPr>
          <p:cNvPr id="197" name="Google Shape;197;p35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/>
              <a:t>A1: </a:t>
            </a:r>
            <a:endParaRPr sz="2300"/>
          </a:p>
          <a:p>
            <a:pPr indent="-374650" lvl="1" marL="914400" rtl="0" algn="l">
              <a:spcBef>
                <a:spcPts val="1200"/>
              </a:spcBef>
              <a:spcAft>
                <a:spcPts val="0"/>
              </a:spcAft>
              <a:buSzPts val="2300"/>
              <a:buChar char="➢"/>
            </a:pPr>
            <a:r>
              <a:rPr lang="en-GB" sz="2300"/>
              <a:t>BEFORE → before data is committed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➢"/>
            </a:pPr>
            <a:r>
              <a:rPr lang="en-GB" sz="2300"/>
              <a:t>AFTER → after change happens</a:t>
            </a:r>
            <a:endParaRPr sz="2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300"/>
              <a:t>A2: No, OLD is read-only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6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/>
              <a:t>Summary</a:t>
            </a:r>
            <a:endParaRPr sz="4800"/>
          </a:p>
        </p:txBody>
      </p:sp>
      <p:sp>
        <p:nvSpPr>
          <p:cNvPr id="203" name="Google Shape;203;p36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-GB" sz="1800"/>
              <a:t>Triggers run automatically on table events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-GB" sz="1800"/>
              <a:t>Use NEW/OLD to access row values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-GB" sz="1800"/>
              <a:t>Ideal for automation, validation, logging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