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CCB7E9-6020-4825-ADFD-AFBBDC4FF49B}">
  <a:tblStyle styleId="{69CCB7E9-6020-4825-ADFD-AFBBDC4FF49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aleway-bold.fntdata"/><Relationship Id="rId10" Type="http://schemas.openxmlformats.org/officeDocument/2006/relationships/slide" Target="slides/slide4.xml"/><Relationship Id="rId32" Type="http://schemas.openxmlformats.org/officeDocument/2006/relationships/font" Target="fonts/Raleway-regular.fntdata"/><Relationship Id="rId13" Type="http://schemas.openxmlformats.org/officeDocument/2006/relationships/slide" Target="slides/slide7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6.xml"/><Relationship Id="rId34" Type="http://schemas.openxmlformats.org/officeDocument/2006/relationships/font" Target="fonts/Raleway-italic.fntdata"/><Relationship Id="rId15" Type="http://schemas.openxmlformats.org/officeDocument/2006/relationships/slide" Target="slides/slide9.xml"/><Relationship Id="rId37" Type="http://schemas.openxmlformats.org/officeDocument/2006/relationships/font" Target="fonts/Lato-bold.fntdata"/><Relationship Id="rId14" Type="http://schemas.openxmlformats.org/officeDocument/2006/relationships/slide" Target="slides/slide8.xml"/><Relationship Id="rId36" Type="http://schemas.openxmlformats.org/officeDocument/2006/relationships/font" Target="fonts/Lato-regular.fntdata"/><Relationship Id="rId17" Type="http://schemas.openxmlformats.org/officeDocument/2006/relationships/slide" Target="slides/slide11.xml"/><Relationship Id="rId39" Type="http://schemas.openxmlformats.org/officeDocument/2006/relationships/font" Target="fonts/Lato-boldItalic.fntdata"/><Relationship Id="rId16" Type="http://schemas.openxmlformats.org/officeDocument/2006/relationships/slide" Target="slides/slide10.xml"/><Relationship Id="rId38" Type="http://schemas.openxmlformats.org/officeDocument/2006/relationships/font" Target="fonts/La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0e759a5c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0e759a5c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9c63530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9c63530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9c63530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9c63530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0e759a5c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0e759a5c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e759a5c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0e759a5c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0e759a5c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0e759a5c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0e759a5c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0e759a5c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9c635304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9c63530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c635304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9c635304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0e759a5c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0e759a5c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0e759a5c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0e759a5c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f11936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af11936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c635304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9c635304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9c635304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9c635304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9c635304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9c635304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0e759a5c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0e759a5c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0e759a5c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0e759a5c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0e759a5c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0e759a5c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0e759a5c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80e759a5c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0e759a5c3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0e759a5c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0e759a5c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0e759a5c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0e759a5c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0e759a5c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0e759a5c3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0e759a5c3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0e759a5c3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0e759a5c3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Error Handling in MySQL</a:t>
            </a:r>
            <a:endParaRPr sz="3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222"/>
              <a:t>Understanding handlers, types, and examples</a:t>
            </a:r>
            <a:endParaRPr sz="46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Error Handling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6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900"/>
              <a:buChar char="➔"/>
            </a:pPr>
            <a:r>
              <a:rPr lang="en-GB" sz="1900"/>
              <a:t>Error handling helps you manage runtime errors so the program doesn’t crash and can keep working.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➔"/>
            </a:pPr>
            <a:r>
              <a:rPr lang="en-GB" sz="1900"/>
              <a:t>In MySQL, you use HANDLERs inside stored programs to decide what to do when an error occurs.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1455488" y="199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{69CCB7E9-6020-4825-ADFD-AFBBDC4FF49B}</a:tableStyleId>
              </a:tblPr>
              <a:tblGrid>
                <a:gridCol w="382850"/>
                <a:gridCol w="1160550"/>
                <a:gridCol w="2676400"/>
                <a:gridCol w="2013225"/>
              </a:tblGrid>
              <a:tr h="356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/>
                        <a:t>id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/>
                        <a:t>name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/>
                        <a:t>marks_obtained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/>
                        <a:t>total_marks</a:t>
                      </a:r>
                      <a:endParaRPr b="1" sz="1500"/>
                    </a:p>
                  </a:txBody>
                  <a:tcPr marT="91425" marB="91425" marR="91425" marL="91425"/>
                </a:tc>
              </a:tr>
              <a:tr h="37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Alice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Bob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Charlie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Diana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" name="Google Shape;100;p15"/>
          <p:cNvSpPr txBox="1"/>
          <p:nvPr/>
        </p:nvSpPr>
        <p:spPr>
          <a:xfrm>
            <a:off x="729450" y="4310700"/>
            <a:ext cx="630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percentage = marks_obtained ÷ total_marks × 100   -&gt; unsafe for division with 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Using an exception handler to return 0% is safe, and the calculation continues for everyone else.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Handle Errors?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➔"/>
            </a:pPr>
            <a:r>
              <a:rPr lang="en-GB" sz="1900"/>
              <a:t>Prevents unexpected termination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➔"/>
            </a:pPr>
            <a:r>
              <a:rPr lang="en-GB" sz="1900"/>
              <a:t>Helps in debugging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➔"/>
            </a:pPr>
            <a:r>
              <a:rPr lang="en-GB" sz="1900"/>
              <a:t>Returns meaningful messages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➔"/>
            </a:pPr>
            <a:r>
              <a:rPr lang="en-GB" sz="1900"/>
              <a:t>Maintains application stability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HANDLER Actions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en-GB" sz="1800"/>
              <a:t>CONTINUE –</a:t>
            </a:r>
            <a:r>
              <a:rPr lang="en-GB" sz="1800"/>
              <a:t> skip the error and continue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en-GB" sz="1800"/>
              <a:t>EXIT –</a:t>
            </a:r>
            <a:r>
              <a:rPr lang="en-GB" sz="1800"/>
              <a:t> exit the block/procedure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of DECLARE HANDLER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0748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handler_action HANDLER</a:t>
            </a:r>
            <a:endParaRPr sz="17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condition_value</a:t>
            </a:r>
            <a:endParaRPr sz="17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7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handler logic</a:t>
            </a:r>
            <a:endParaRPr sz="17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Condition Values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-GB" sz="1800"/>
              <a:t>SQLSTATE value: '23000' → Integrity error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-GB" sz="1800"/>
              <a:t>MySQL error #: 1062 → Duplicate entry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-GB" sz="1800"/>
              <a:t>Predefined: NOT FOUND, SQLEXCEPTION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SQLSTATE (State)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29450" y="1919500"/>
            <a:ext cx="7688700" cy="28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2258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➔"/>
            </a:pPr>
            <a:r>
              <a:rPr b="1" lang="en-GB" sz="1600"/>
              <a:t>Definition:</a:t>
            </a:r>
            <a:r>
              <a:rPr lang="en-GB" sz="1600"/>
              <a:t> A 5-character code defined by the SQL standard that represents the type or category of error.</a:t>
            </a:r>
            <a:endParaRPr sz="1600"/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b="1" lang="en-GB" sz="1600"/>
              <a:t>Purpose:</a:t>
            </a:r>
            <a:r>
              <a:rPr lang="en-GB" sz="1600"/>
              <a:t> Tells you what kind of problem occurred, regardless of the database system.</a:t>
            </a:r>
            <a:endParaRPr sz="1600"/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b="1" lang="en-GB" sz="1600"/>
              <a:t>Example:</a:t>
            </a:r>
            <a:endParaRPr b="1" sz="1600"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-GB" sz="1400"/>
              <a:t>'23000' → Integrity constraint violation (like duplicate key, foreign key violation)</a:t>
            </a:r>
            <a:endParaRPr sz="1400"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-GB" sz="1400"/>
              <a:t>'22012' → Division by zero</a:t>
            </a:r>
            <a:endParaRPr sz="1400"/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b="1" lang="en-GB" sz="1600"/>
              <a:t>Key Point: </a:t>
            </a:r>
            <a:r>
              <a:rPr lang="en-GB" sz="1600"/>
              <a:t>It’s standardized, so the same SQLSTATE means the same type of problem across different databases.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 Error Number (Error)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29450" y="2078875"/>
            <a:ext cx="7688700" cy="26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Definition: A database-specific numeric code that MySQL assigns to a particular error.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Purpose: Gives a specific identifier for MySQL for that exact error.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Example: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-GB" sz="1400"/>
              <a:t>1062 → Duplicate entry for a key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-GB" sz="1400"/>
              <a:t>1364 → Field cannot be null</a:t>
            </a:r>
            <a:endParaRPr sz="14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Key Point: MySQL-specific, can vary across databases.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CONTINUE Handler Example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DECLARE CONTINUE HANDLER FOR NOT FOUND SET done = TRUE;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EXIT Handler Example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727650" y="1914975"/>
            <a:ext cx="7688700" cy="22944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EXIT HANDLER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SQLEXCEPTION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ROLLBACK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'Error occurred. Transaction cancelled.'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  <p:sp>
        <p:nvSpPr>
          <p:cNvPr id="155" name="Google Shape;155;p24"/>
          <p:cNvSpPr txBox="1"/>
          <p:nvPr/>
        </p:nvSpPr>
        <p:spPr>
          <a:xfrm>
            <a:off x="727650" y="4370875"/>
            <a:ext cx="7688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EXIT HANDLER - Executes when a specific error or condition occurs, and then immediately exits the program after handling it.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defined custom errors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SQLSTATE ‘45000’ - Custom user-defined error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It’s a special code for user-defined errors in MySQL.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Used with SIGNAL to stop execution and show a custom message.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Works even without declaring a handler — MySQL shows the message directly.</a:t>
            </a:r>
            <a:endParaRPr sz="1500"/>
          </a:p>
        </p:txBody>
      </p:sp>
      <p:sp>
        <p:nvSpPr>
          <p:cNvPr id="167" name="Google Shape;167;p26"/>
          <p:cNvSpPr txBox="1"/>
          <p:nvPr/>
        </p:nvSpPr>
        <p:spPr>
          <a:xfrm>
            <a:off x="729450" y="3637675"/>
            <a:ext cx="6303600" cy="3849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SIGNAL </a:t>
            </a:r>
            <a:r>
              <a:rPr lang="en-GB" sz="1300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SQLSTATE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3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'45000'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300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SET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MESSAGE_TEXT =</a:t>
            </a:r>
            <a:r>
              <a:rPr lang="en-GB" sz="13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 'Invalid amount!'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;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/>
        </p:nvSpPr>
        <p:spPr>
          <a:xfrm>
            <a:off x="0" y="179475"/>
            <a:ext cx="9144000" cy="4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➔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🪜 Step 1 – Declare a Condition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◆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Define a name for your custom error using an SQLSTATE code.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64D79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DECLARE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 negative_amount </a:t>
            </a:r>
            <a:r>
              <a:rPr lang="en-GB" sz="1300">
                <a:solidFill>
                  <a:srgbClr val="A64D79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CONDITION FOR SQLSTATE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300">
                <a:solidFill>
                  <a:srgbClr val="6AA84F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'45000'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;</a:t>
            </a:r>
            <a:endParaRPr sz="1300">
              <a:solidFill>
                <a:schemeClr val="accent1"/>
              </a:solidFill>
              <a:highlight>
                <a:srgbClr val="D4D4D4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➔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🪜 Step 2 – Create a Handler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◆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Tell MySQL what to do when that condition occurs — for example, show a message or roll back.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highlight>
                <a:srgbClr val="D4D4D4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➔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🪜 Step 3 – Signal the Error When Needed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◆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Trigger (raise) the condition when the problem actually happens.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highlight>
                <a:srgbClr val="D4D4D4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549375" y="1044025"/>
            <a:ext cx="4946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549375" y="2285400"/>
            <a:ext cx="4533000" cy="57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64D79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DECLARE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 EXIT HANDLER </a:t>
            </a:r>
            <a:r>
              <a:rPr lang="en-GB" sz="1300">
                <a:solidFill>
                  <a:srgbClr val="A64D79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 negative_amount</a:t>
            </a:r>
            <a:endParaRPr sz="1300">
              <a:solidFill>
                <a:schemeClr val="accent1"/>
              </a:solidFill>
              <a:highlight>
                <a:srgbClr val="D4D4D4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64D79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SELECT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300">
                <a:solidFill>
                  <a:srgbClr val="6AA84F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'Error: Amount cannot be negative!'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;</a:t>
            </a:r>
            <a:endParaRPr sz="1300">
              <a:solidFill>
                <a:srgbClr val="A64D79"/>
              </a:solidFill>
              <a:highlight>
                <a:srgbClr val="D4D4D4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549375" y="3858575"/>
            <a:ext cx="6263400" cy="7851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64D79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IF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 balance &lt; amount_to_withdraw </a:t>
            </a:r>
            <a:r>
              <a:rPr lang="en-GB" sz="1300">
                <a:solidFill>
                  <a:srgbClr val="A64D79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THEN</a:t>
            </a:r>
            <a:endParaRPr sz="1300">
              <a:solidFill>
                <a:srgbClr val="A64D79"/>
              </a:solidFill>
              <a:highlight>
                <a:srgbClr val="D4D4D4"/>
              </a:highlight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SIGNAL negative_amount;</a:t>
            </a:r>
            <a:endParaRPr sz="1300">
              <a:solidFill>
                <a:schemeClr val="accent1"/>
              </a:solidFill>
              <a:highlight>
                <a:srgbClr val="D4D4D4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64D79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END</a:t>
            </a:r>
            <a:r>
              <a:rPr lang="en-GB" sz="1300">
                <a:solidFill>
                  <a:schemeClr val="accent1"/>
                </a:solidFill>
                <a:highlight>
                  <a:srgbClr val="D4D4D4"/>
                </a:highlight>
                <a:latin typeface="Lato"/>
                <a:ea typeface="Lato"/>
                <a:cs typeface="Lato"/>
                <a:sym typeface="Lato"/>
              </a:rPr>
              <a:t> IF;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 Condition &amp; HANDLER</a:t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0" y="2078875"/>
            <a:ext cx="4379700" cy="25875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insufficient_balance CONDITION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SQLSTATE </a:t>
            </a:r>
            <a:r>
              <a:rPr lang="en-GB" sz="1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'45000'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EXIT HANDLER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insufficient_balance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'Balance too low!'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4434350" y="2078875"/>
            <a:ext cx="4709700" cy="25875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Check balance and SIGNAL if not enough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balance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acc_no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acc)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amt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SIGNAL insufficient_balance;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SIGNAL for Custom Errors</a:t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729450" y="2078875"/>
            <a:ext cx="7688700" cy="19212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NEW.amount </a:t>
            </a:r>
            <a:r>
              <a:rPr lang="en-GB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SIGNAL SQLSTATE 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'45000'</a:t>
            </a:r>
            <a:endParaRPr sz="14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MESSAGE_TEXT </a:t>
            </a:r>
            <a:r>
              <a:rPr lang="en-GB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'Amount cannot be negative'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Handling in Functions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5908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safe_divide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(a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b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DECIMAL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EXIT HANDLER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SQLEXCEPTION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GB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b;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GB" sz="1700"/>
              <a:t>Use DECLARE HANDLER to catch errors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GB" sz="1700"/>
              <a:t>Types: CONTINUE, EXIT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GB" sz="1700"/>
              <a:t>Combine with SIGNAL for custom errors</a:t>
            </a: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 Safe Division in Function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729450" y="2078875"/>
            <a:ext cx="7688700" cy="19980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safe_divide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(a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b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DECIMAL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EXIT HANDLER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SQLEXCEPTION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GB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b;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 NOT FOUND in Cursors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729450" y="2078875"/>
            <a:ext cx="7688700" cy="22725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HANDLER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FOUND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TRUE;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cur;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cur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INTO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var1;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LEAVE;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cur;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 Rollback on Error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EXIT HANDLER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SQLEXCEPTION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ROLLBACK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'Error occurred'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 TRANSACTION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accounts ...;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 SIGNAL in Triggers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729450" y="2078875"/>
            <a:ext cx="7688700" cy="15042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NEW.salary </a:t>
            </a:r>
            <a:r>
              <a:rPr lang="en-GB" sz="1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SIGNAL SQLSTATE </a:t>
            </a:r>
            <a:r>
              <a:rPr lang="en-GB" sz="1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'45000'</a:t>
            </a:r>
            <a:endParaRPr sz="15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MESSAGE_TEXT </a:t>
            </a:r>
            <a:r>
              <a:rPr lang="en-GB" sz="1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'Negative salary not allowed'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 Duplicate Entry Handler</a:t>
            </a:r>
            <a:endParaRPr/>
          </a:p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729450" y="2078875"/>
            <a:ext cx="7688700" cy="24042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EXIT HANDLER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1062</a:t>
            </a:r>
            <a:endParaRPr sz="145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'User exists'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users(username)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'abc'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 Multiple Handlers</a:t>
            </a:r>
            <a:endParaRPr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HANDLER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FOUND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done </a:t>
            </a:r>
            <a:r>
              <a:rPr lang="en-GB" sz="12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TRUE;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EXIT HANDLER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SQLEXCEPTION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2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ROLLBACK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'Error occurred'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